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Proxima Nova"/>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ProximaNova-bold.fntdata"/><Relationship Id="rId12" Type="http://schemas.openxmlformats.org/officeDocument/2006/relationships/font" Target="fonts/ProximaNova-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roximaNova-boldItalic.fntdata"/><Relationship Id="rId14" Type="http://schemas.openxmlformats.org/officeDocument/2006/relationships/font" Target="fonts/ProximaNova-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3b40f5a73c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13b40f5a73c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3b40f5a73c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3b40f5a73c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3b40f5a73c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3b40f5a73c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3b40f5a73c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3b40f5a73c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3b40f5a73c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3b40f5a73c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ocs.google.com/document/u/0/d/1o5QL9qVBBDCqGdXtZi6B8hrhckYM9B0PwXhZpRzsQzo/edi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normansicily.org/en/resources/learn/group_fou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Monasteries and Religion of Norman Sicily</a:t>
            </a:r>
            <a:endParaRPr/>
          </a:p>
        </p:txBody>
      </p:sp>
      <p:pic>
        <p:nvPicPr>
          <p:cNvPr id="60" name="Google Shape;60;p13"/>
          <p:cNvPicPr preferRelativeResize="0"/>
          <p:nvPr/>
        </p:nvPicPr>
        <p:blipFill>
          <a:blip r:embed="rId3">
            <a:alphaModFix/>
          </a:blip>
          <a:stretch>
            <a:fillRect/>
          </a:stretch>
        </p:blipFill>
        <p:spPr>
          <a:xfrm>
            <a:off x="3077325" y="3096875"/>
            <a:ext cx="2989349" cy="19928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Preliminary Reading and Discussion Activity</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Read the text and we will discuss it as a class. </a:t>
            </a:r>
            <a:endParaRPr/>
          </a:p>
          <a:p>
            <a:pPr indent="-342900" lvl="0" marL="457200" rtl="0" algn="l">
              <a:spcBef>
                <a:spcPts val="1200"/>
              </a:spcBef>
              <a:spcAft>
                <a:spcPts val="0"/>
              </a:spcAft>
              <a:buSzPts val="1800"/>
              <a:buChar char="●"/>
            </a:pPr>
            <a:r>
              <a:rPr lang="en"/>
              <a:t>“</a:t>
            </a:r>
            <a:r>
              <a:rPr lang="en"/>
              <a:t>Roger I did not want to conquer through battles, but rather negotiations. They were greatly used in negotiations with other Muslim cities. Due to this, Muslims in the cities had some level of autonomy and Roger I gave them a sense of respect. Muslims who lived in villages did not have the same opportunity and had pressure to convert to Christianity instead. Roger I did not have any Muslim in the central government” (Ingwersen par. 2).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Religion</a:t>
            </a:r>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Normans were traditionally Christians, but the island of Sicily was full of different religions such as Judaism, Eastern Orthodox Christianity, and Islam.</a:t>
            </a:r>
            <a:endParaRPr/>
          </a:p>
          <a:p>
            <a:pPr indent="-342900" lvl="0" marL="457200" rtl="0" algn="l">
              <a:spcBef>
                <a:spcPts val="0"/>
              </a:spcBef>
              <a:spcAft>
                <a:spcPts val="0"/>
              </a:spcAft>
              <a:buSzPts val="1800"/>
              <a:buChar char="●"/>
            </a:pPr>
            <a:r>
              <a:rPr lang="en"/>
              <a:t>Due to the multicultural inhabitants of Sicily, the Normans were tolerable of the different religions and kept good relationships with their followers. </a:t>
            </a:r>
            <a:endParaRPr/>
          </a:p>
          <a:p>
            <a:pPr indent="-342900" lvl="0" marL="457200" rtl="0" algn="l">
              <a:spcBef>
                <a:spcPts val="0"/>
              </a:spcBef>
              <a:spcAft>
                <a:spcPts val="0"/>
              </a:spcAft>
              <a:buSzPts val="1800"/>
              <a:buChar char="●"/>
            </a:pPr>
            <a:r>
              <a:rPr lang="en"/>
              <a:t>Since the Normans </a:t>
            </a:r>
            <a:r>
              <a:rPr lang="en"/>
              <a:t>conquered</a:t>
            </a:r>
            <a:r>
              <a:rPr lang="en"/>
              <a:t> Sicily, it was </a:t>
            </a:r>
            <a:r>
              <a:rPr lang="en"/>
              <a:t>beneficial</a:t>
            </a:r>
            <a:r>
              <a:rPr lang="en"/>
              <a:t> to </a:t>
            </a:r>
            <a:r>
              <a:rPr lang="en"/>
              <a:t>incorporate</a:t>
            </a:r>
            <a:r>
              <a:rPr lang="en"/>
              <a:t> </a:t>
            </a:r>
            <a:r>
              <a:rPr lang="en"/>
              <a:t>people</a:t>
            </a:r>
            <a:r>
              <a:rPr lang="en"/>
              <a:t> of different cultures into Norman systems, such as the military. </a:t>
            </a:r>
            <a:endParaRPr/>
          </a:p>
          <a:p>
            <a:pPr indent="-342900" lvl="0" marL="457200" rtl="0" algn="l">
              <a:spcBef>
                <a:spcPts val="0"/>
              </a:spcBef>
              <a:spcAft>
                <a:spcPts val="0"/>
              </a:spcAft>
              <a:buSzPts val="1800"/>
              <a:buChar char="●"/>
            </a:pPr>
            <a:r>
              <a:rPr lang="en"/>
              <a:t>The heavy Muslim population of the island shifted culture of the Normans to that of the Muslims, influencing Christians to wear Mulsim garb and speak Arabic.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
                                        </p:tgtEl>
                                        <p:attrNameLst>
                                          <p:attrName>style.visibility</p:attrName>
                                        </p:attrNameLst>
                                      </p:cBhvr>
                                      <p:to>
                                        <p:strVal val="visible"/>
                                      </p:to>
                                    </p:set>
                                    <p:animEffect filter="fade" transition="in">
                                      <p:cBhvr>
                                        <p:cTn dur="1000"/>
                                        <p:tgtEl>
                                          <p:spTgt spid="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Coexistence</a:t>
            </a:r>
            <a:endParaRPr/>
          </a:p>
        </p:txBody>
      </p:sp>
      <p:sp>
        <p:nvSpPr>
          <p:cNvPr id="78" name="Google Shape;78;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religious tolerance of the Normans grew to an all time high under the rule of William I and William II. </a:t>
            </a:r>
            <a:endParaRPr/>
          </a:p>
          <a:p>
            <a:pPr indent="-342900" lvl="0" marL="457200" rtl="0" algn="l">
              <a:spcBef>
                <a:spcPts val="0"/>
              </a:spcBef>
              <a:spcAft>
                <a:spcPts val="0"/>
              </a:spcAft>
              <a:buSzPts val="1800"/>
              <a:buChar char="●"/>
            </a:pPr>
            <a:r>
              <a:rPr lang="en"/>
              <a:t>The biggest example of tolerance is the participation of Muslims in Norman government. </a:t>
            </a:r>
            <a:endParaRPr/>
          </a:p>
          <a:p>
            <a:pPr indent="-342900" lvl="0" marL="457200" rtl="0" algn="l">
              <a:spcBef>
                <a:spcPts val="0"/>
              </a:spcBef>
              <a:spcAft>
                <a:spcPts val="0"/>
              </a:spcAft>
              <a:buSzPts val="1800"/>
              <a:buChar char="●"/>
            </a:pPr>
            <a:r>
              <a:rPr lang="en"/>
              <a:t>Even though there was some violence between Christians and Mulsims, the tolerance of other religions shown by the Normans was extraordinary. </a:t>
            </a:r>
            <a:endParaRPr/>
          </a:p>
        </p:txBody>
      </p:sp>
      <p:pic>
        <p:nvPicPr>
          <p:cNvPr id="79" name="Google Shape;79;p16"/>
          <p:cNvPicPr preferRelativeResize="0"/>
          <p:nvPr/>
        </p:nvPicPr>
        <p:blipFill>
          <a:blip r:embed="rId3">
            <a:alphaModFix/>
          </a:blip>
          <a:stretch>
            <a:fillRect/>
          </a:stretch>
        </p:blipFill>
        <p:spPr>
          <a:xfrm>
            <a:off x="7838136" y="2939701"/>
            <a:ext cx="1229975" cy="1841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
                                        </p:tgtEl>
                                        <p:attrNameLst>
                                          <p:attrName>style.visibility</p:attrName>
                                        </p:attrNameLst>
                                      </p:cBhvr>
                                      <p:to>
                                        <p:strVal val="visible"/>
                                      </p:to>
                                    </p:set>
                                    <p:animEffect filter="fade" transition="in">
                                      <p:cBhvr>
                                        <p:cTn dur="1000"/>
                                        <p:tgtEl>
                                          <p:spTgt spid="78"/>
                                        </p:tgtEl>
                                      </p:cBhvr>
                                    </p:animEffect>
                                  </p:childTnLst>
                                </p:cTn>
                              </p:par>
                              <p:par>
                                <p:cTn fill="hold" nodeType="withEffect" presetClass="entr" presetID="10" presetSubtype="0">
                                  <p:stCondLst>
                                    <p:cond delay="0"/>
                                  </p:stCondLst>
                                  <p:childTnLst>
                                    <p:set>
                                      <p:cBhvr>
                                        <p:cTn dur="1" fill="hold">
                                          <p:stCondLst>
                                            <p:cond delay="0"/>
                                          </p:stCondLst>
                                        </p:cTn>
                                        <p:tgtEl>
                                          <p:spTgt spid="79"/>
                                        </p:tgtEl>
                                        <p:attrNameLst>
                                          <p:attrName>style.visibility</p:attrName>
                                        </p:attrNameLst>
                                      </p:cBhvr>
                                      <p:to>
                                        <p:strVal val="visible"/>
                                      </p:to>
                                    </p:set>
                                    <p:animEffect filter="fade" transition="in">
                                      <p:cBhvr>
                                        <p:cTn dur="1000"/>
                                        <p:tgtEl>
                                          <p:spTgt spid="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Monastery Class Research Activity</a:t>
            </a:r>
            <a:endParaRPr/>
          </a:p>
        </p:txBody>
      </p:sp>
      <p:sp>
        <p:nvSpPr>
          <p:cNvPr id="85" name="Google Shape;85;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Sicily held many types of religious buildings during the Norman rule. </a:t>
            </a:r>
            <a:endParaRPr/>
          </a:p>
          <a:p>
            <a:pPr indent="-342900" lvl="0" marL="457200" rtl="0" algn="l">
              <a:spcBef>
                <a:spcPts val="0"/>
              </a:spcBef>
              <a:spcAft>
                <a:spcPts val="0"/>
              </a:spcAft>
              <a:buSzPts val="1800"/>
              <a:buChar char="●"/>
            </a:pPr>
            <a:r>
              <a:rPr lang="en"/>
              <a:t>You will use the Norman Sicily Project website to research an article about the monasteries in Norman Sicily. </a:t>
            </a:r>
            <a:endParaRPr/>
          </a:p>
          <a:p>
            <a:pPr indent="-342900" lvl="0" marL="457200" rtl="0" algn="l">
              <a:spcBef>
                <a:spcPts val="0"/>
              </a:spcBef>
              <a:spcAft>
                <a:spcPts val="0"/>
              </a:spcAft>
              <a:buSzPts val="1800"/>
              <a:buChar char="●"/>
            </a:pPr>
            <a:r>
              <a:rPr lang="en"/>
              <a:t>Use the link </a:t>
            </a:r>
            <a:r>
              <a:rPr lang="en" u="sng">
                <a:solidFill>
                  <a:schemeClr val="hlink"/>
                </a:solidFill>
                <a:hlinkClick r:id="rId3"/>
              </a:rPr>
              <a:t>here</a:t>
            </a:r>
            <a:r>
              <a:rPr lang="en"/>
              <a:t> to go to the activity and see further instructions!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gtEl>
                                        <p:attrNameLst>
                                          <p:attrName>style.visibility</p:attrName>
                                        </p:attrNameLst>
                                      </p:cBhvr>
                                      <p:to>
                                        <p:strVal val="visible"/>
                                      </p:to>
                                    </p:set>
                                    <p:animEffect filter="fade" transition="in">
                                      <p:cBhvr>
                                        <p:cTn dur="1000"/>
                                        <p:tgtEl>
                                          <p:spTgt spid="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Work Cited</a:t>
            </a:r>
            <a:endParaRPr/>
          </a:p>
        </p:txBody>
      </p:sp>
      <p:sp>
        <p:nvSpPr>
          <p:cNvPr id="91" name="Google Shape;91;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466344" lvl="0" marL="466344" rtl="0" algn="l">
              <a:spcBef>
                <a:spcPts val="0"/>
              </a:spcBef>
              <a:spcAft>
                <a:spcPts val="1200"/>
              </a:spcAft>
              <a:buNone/>
            </a:pPr>
            <a:r>
              <a:rPr lang="en"/>
              <a:t>Ingwersen, M. (2021, September 1). The World the Normans Made · V. Religion. </a:t>
            </a:r>
            <a:r>
              <a:rPr i="1" lang="en"/>
              <a:t>The Norman Sicily Project</a:t>
            </a:r>
            <a:r>
              <a:rPr lang="en"/>
              <a:t>. Retrieved July 6, 2022, from </a:t>
            </a:r>
            <a:r>
              <a:rPr lang="en" u="sng">
                <a:solidFill>
                  <a:schemeClr val="hlink"/>
                </a:solidFill>
                <a:hlinkClick r:id="rId3"/>
              </a:rPr>
              <a:t>http://normansicily.org/en/resources/learn/group_four/</a:t>
            </a:r>
            <a:r>
              <a:rPr lang="en"/>
              <a:t>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